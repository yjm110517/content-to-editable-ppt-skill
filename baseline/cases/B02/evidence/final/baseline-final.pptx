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decor_top_right"/>
          <p:cNvSpPr/>
          <p:nvPr/>
        </p:nvSpPr>
        <p:spPr>
          <a:xfrm>
            <a:off x="9848088" y="0"/>
            <a:ext cx="2343607" cy="2048256"/>
          </a:xfrm>
          <a:prstGeom prst="ellipse">
            <a:avLst/>
          </a:prstGeom>
          <a:solidFill>
            <a:srgbClr val="E6F0FC">
              <a:alpha val="92000"/>
            </a:srgbClr>
          </a:solidFill>
          <a:ln w="6350">
            <a:solidFill>
              <a:srgbClr val="E6F0FC">
                <a:alpha val="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ivt:decor_bottom_left"/>
          <p:cNvSpPr/>
          <p:nvPr/>
        </p:nvSpPr>
        <p:spPr>
          <a:xfrm>
            <a:off x="0" y="5257800"/>
            <a:ext cx="3063240" cy="1600200"/>
          </a:xfrm>
          <a:prstGeom prst="ellipse">
            <a:avLst/>
          </a:prstGeom>
          <a:solidFill>
            <a:srgbClr val="EEF4FC">
              <a:alpha val="96000"/>
            </a:srgbClr>
          </a:solidFill>
          <a:ln w="6350">
            <a:solidFill>
              <a:srgbClr val="EEF4FC">
                <a:alpha val="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ivt:card_goal"/>
          <p:cNvSpPr/>
          <p:nvPr/>
        </p:nvSpPr>
        <p:spPr>
          <a:xfrm>
            <a:off x="557784" y="1682496"/>
            <a:ext cx="3429000" cy="1636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2C4F6"/>
            </a:solidFill>
            <a:prstDash val="solid"/>
            <a:headEnd type="none"/>
            <a:tailEnd type="none"/>
          </a:ln>
        </p:spPr>
      </p:sp>
      <p:sp>
        <p:nvSpPr>
          <p:cNvPr id="5" name="ivt:card_data"/>
          <p:cNvSpPr/>
          <p:nvPr/>
        </p:nvSpPr>
        <p:spPr>
          <a:xfrm>
            <a:off x="4379976" y="1682496"/>
            <a:ext cx="3429000" cy="1636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2C4F6"/>
            </a:solidFill>
            <a:prstDash val="solid"/>
            <a:headEnd type="none"/>
            <a:tailEnd type="none"/>
          </a:ln>
        </p:spPr>
      </p:sp>
      <p:sp>
        <p:nvSpPr>
          <p:cNvPr id="6" name="ivt:card_quality"/>
          <p:cNvSpPr/>
          <p:nvPr/>
        </p:nvSpPr>
        <p:spPr>
          <a:xfrm>
            <a:off x="8211312" y="1682496"/>
            <a:ext cx="3429000" cy="1636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2C4F6"/>
            </a:solidFill>
            <a:prstDash val="solid"/>
            <a:headEnd type="none"/>
            <a:tailEnd type="none"/>
          </a:ln>
        </p:spPr>
      </p:sp>
      <p:sp>
        <p:nvSpPr>
          <p:cNvPr id="7" name="ivt:card_innovation"/>
          <p:cNvSpPr/>
          <p:nvPr/>
        </p:nvSpPr>
        <p:spPr>
          <a:xfrm>
            <a:off x="557784" y="3758184"/>
            <a:ext cx="3429000" cy="1636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2C4F6"/>
            </a:solidFill>
            <a:prstDash val="solid"/>
            <a:headEnd type="none"/>
            <a:tailEnd type="none"/>
          </a:ln>
        </p:spPr>
      </p:sp>
      <p:sp>
        <p:nvSpPr>
          <p:cNvPr id="8" name="ivt:card_collaboration"/>
          <p:cNvSpPr/>
          <p:nvPr/>
        </p:nvSpPr>
        <p:spPr>
          <a:xfrm>
            <a:off x="4379976" y="3758184"/>
            <a:ext cx="3429000" cy="1636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2C4F6"/>
            </a:solidFill>
            <a:prstDash val="solid"/>
            <a:headEnd type="none"/>
            <a:tailEnd type="none"/>
          </a:ln>
        </p:spPr>
      </p:sp>
      <p:sp>
        <p:nvSpPr>
          <p:cNvPr id="9" name="ivt:card_improvement"/>
          <p:cNvSpPr/>
          <p:nvPr/>
        </p:nvSpPr>
        <p:spPr>
          <a:xfrm>
            <a:off x="8211312" y="3758184"/>
            <a:ext cx="3429000" cy="1636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2C4F6"/>
            </a:solidFill>
            <a:prstDash val="solid"/>
            <a:headEnd type="none"/>
            <a:tailEnd type="none"/>
          </a:ln>
        </p:spPr>
      </p:sp>
      <p:pic>
        <p:nvPicPr>
          <p:cNvPr id="10" name="ivt:icon_goal" descr="目标管理靶心图标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956816"/>
            <a:ext cx="813816" cy="804672"/>
          </a:xfrm>
          <a:prstGeom prst="rect">
            <a:avLst/>
          </a:prstGeom>
        </p:spPr>
      </p:pic>
      <p:pic>
        <p:nvPicPr>
          <p:cNvPr id="11" name="ivt:icon_data" descr="数据洞察柱状图图标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9432" y="1956816"/>
            <a:ext cx="813816" cy="804672"/>
          </a:xfrm>
          <a:prstGeom prst="rect">
            <a:avLst/>
          </a:prstGeom>
        </p:spPr>
      </p:pic>
      <p:pic>
        <p:nvPicPr>
          <p:cNvPr id="12" name="ivt:icon_quality" descr="质量保障勾选框图标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30768" y="1956816"/>
            <a:ext cx="813816" cy="804672"/>
          </a:xfrm>
          <a:prstGeom prst="rect">
            <a:avLst/>
          </a:prstGeom>
        </p:spPr>
      </p:pic>
      <p:pic>
        <p:nvPicPr>
          <p:cNvPr id="13" name="ivt:icon_innovation" descr="创新实验闪光图标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8096" y="4032504"/>
            <a:ext cx="813816" cy="804672"/>
          </a:xfrm>
          <a:prstGeom prst="rect">
            <a:avLst/>
          </a:prstGeom>
        </p:spPr>
      </p:pic>
      <p:pic>
        <p:nvPicPr>
          <p:cNvPr id="14" name="ivt:icon_collaboration" descr="协同共创团队图标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9432" y="4032504"/>
            <a:ext cx="813816" cy="804672"/>
          </a:xfrm>
          <a:prstGeom prst="rect">
            <a:avLst/>
          </a:prstGeom>
        </p:spPr>
      </p:pic>
      <p:pic>
        <p:nvPicPr>
          <p:cNvPr id="15" name="ivt:icon_improvement" descr="持续改进循环图标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30768" y="4032504"/>
            <a:ext cx="813816" cy="804672"/>
          </a:xfrm>
          <a:prstGeom prst="rect">
            <a:avLst/>
          </a:prstGeom>
        </p:spPr>
      </p:pic>
      <p:sp>
        <p:nvSpPr>
          <p:cNvPr id="16" name="ivt:divider_goal"/>
          <p:cNvSpPr/>
          <p:nvPr/>
        </p:nvSpPr>
        <p:spPr>
          <a:xfrm>
            <a:off x="1755648" y="2880360"/>
            <a:ext cx="1792224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C6D9F4"/>
            </a:solidFill>
            <a:prstDash val="solid"/>
            <a:headEnd type="none"/>
            <a:tailEnd type="none"/>
          </a:ln>
        </p:spPr>
      </p:sp>
      <p:sp>
        <p:nvSpPr>
          <p:cNvPr id="17" name="ivt:divider_data"/>
          <p:cNvSpPr/>
          <p:nvPr/>
        </p:nvSpPr>
        <p:spPr>
          <a:xfrm>
            <a:off x="5577840" y="2880360"/>
            <a:ext cx="1792224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C6D9F4"/>
            </a:solidFill>
            <a:prstDash val="solid"/>
            <a:headEnd type="none"/>
            <a:tailEnd type="none"/>
          </a:ln>
        </p:spPr>
      </p:sp>
      <p:sp>
        <p:nvSpPr>
          <p:cNvPr id="18" name="ivt:divider_quality"/>
          <p:cNvSpPr/>
          <p:nvPr/>
        </p:nvSpPr>
        <p:spPr>
          <a:xfrm>
            <a:off x="9409176" y="2880360"/>
            <a:ext cx="1792224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C6D9F4"/>
            </a:solidFill>
            <a:prstDash val="solid"/>
            <a:headEnd type="none"/>
            <a:tailEnd type="none"/>
          </a:ln>
        </p:spPr>
      </p:sp>
      <p:sp>
        <p:nvSpPr>
          <p:cNvPr id="19" name="ivt:divider_innovation"/>
          <p:cNvSpPr/>
          <p:nvPr/>
        </p:nvSpPr>
        <p:spPr>
          <a:xfrm>
            <a:off x="1755648" y="4956048"/>
            <a:ext cx="1792224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C6D9F4"/>
            </a:solidFill>
            <a:prstDash val="solid"/>
            <a:headEnd type="none"/>
            <a:tailEnd type="none"/>
          </a:ln>
        </p:spPr>
      </p:sp>
      <p:sp>
        <p:nvSpPr>
          <p:cNvPr id="20" name="ivt:divider_collaboration"/>
          <p:cNvSpPr/>
          <p:nvPr/>
        </p:nvSpPr>
        <p:spPr>
          <a:xfrm>
            <a:off x="5577840" y="4956048"/>
            <a:ext cx="1792224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C6D9F4"/>
            </a:solidFill>
            <a:prstDash val="solid"/>
            <a:headEnd type="none"/>
            <a:tailEnd type="none"/>
          </a:ln>
        </p:spPr>
      </p:sp>
      <p:sp>
        <p:nvSpPr>
          <p:cNvPr id="21" name="ivt:divider_improvement"/>
          <p:cNvSpPr/>
          <p:nvPr/>
        </p:nvSpPr>
        <p:spPr>
          <a:xfrm>
            <a:off x="9409176" y="4956048"/>
            <a:ext cx="1792224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C6D9F4"/>
            </a:solidFill>
            <a:prstDash val="solid"/>
            <a:headEnd type="none"/>
            <a:tailEnd type="none"/>
          </a:ln>
        </p:spPr>
      </p:sp>
      <p:sp>
        <p:nvSpPr>
          <p:cNvPr id="22" name="ivt:title_goal"/>
          <p:cNvSpPr/>
          <p:nvPr/>
        </p:nvSpPr>
        <p:spPr>
          <a:xfrm>
            <a:off x="1755648" y="2130552"/>
            <a:ext cx="169164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目标管理</a:t>
            </a:r>
            <a:endParaRPr lang="en-US" sz="1700" dirty="0"/>
          </a:p>
        </p:txBody>
      </p:sp>
      <p:sp>
        <p:nvSpPr>
          <p:cNvPr id="23" name="ivt:title_data"/>
          <p:cNvSpPr/>
          <p:nvPr/>
        </p:nvSpPr>
        <p:spPr>
          <a:xfrm>
            <a:off x="5577840" y="2130552"/>
            <a:ext cx="169164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1700" dirty="0"/>
          </a:p>
        </p:txBody>
      </p:sp>
      <p:sp>
        <p:nvSpPr>
          <p:cNvPr id="24" name="ivt:title_quality"/>
          <p:cNvSpPr/>
          <p:nvPr/>
        </p:nvSpPr>
        <p:spPr>
          <a:xfrm>
            <a:off x="9409176" y="2130552"/>
            <a:ext cx="169164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</a:t>
            </a:r>
            <a:endParaRPr lang="en-US" sz="1700" dirty="0"/>
          </a:p>
        </p:txBody>
      </p:sp>
      <p:sp>
        <p:nvSpPr>
          <p:cNvPr id="25" name="ivt:title_innovation"/>
          <p:cNvSpPr/>
          <p:nvPr/>
        </p:nvSpPr>
        <p:spPr>
          <a:xfrm>
            <a:off x="1755648" y="4206240"/>
            <a:ext cx="169164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创新实验</a:t>
            </a:r>
            <a:endParaRPr lang="en-US" sz="1700" dirty="0"/>
          </a:p>
        </p:txBody>
      </p:sp>
      <p:sp>
        <p:nvSpPr>
          <p:cNvPr id="26" name="ivt:title_collaboration"/>
          <p:cNvSpPr/>
          <p:nvPr/>
        </p:nvSpPr>
        <p:spPr>
          <a:xfrm>
            <a:off x="5577840" y="4206240"/>
            <a:ext cx="169164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协同共创</a:t>
            </a:r>
            <a:endParaRPr lang="en-US" sz="1700" dirty="0"/>
          </a:p>
        </p:txBody>
      </p:sp>
      <p:sp>
        <p:nvSpPr>
          <p:cNvPr id="27" name="ivt:title_improvement"/>
          <p:cNvSpPr/>
          <p:nvPr/>
        </p:nvSpPr>
        <p:spPr>
          <a:xfrm>
            <a:off x="9409176" y="4206240"/>
            <a:ext cx="169164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1700" dirty="0"/>
          </a:p>
        </p:txBody>
      </p:sp>
      <p:sp>
        <p:nvSpPr>
          <p:cNvPr id="28" name="ivt:body_goal"/>
          <p:cNvSpPr/>
          <p:nvPr/>
        </p:nvSpPr>
        <p:spPr>
          <a:xfrm>
            <a:off x="1755648" y="2551176"/>
            <a:ext cx="18288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3E5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把方向转化为可衡量结果</a:t>
            </a:r>
            <a:endParaRPr lang="en-US" sz="1150" dirty="0"/>
          </a:p>
        </p:txBody>
      </p:sp>
      <p:sp>
        <p:nvSpPr>
          <p:cNvPr id="29" name="ivt:body_data"/>
          <p:cNvSpPr/>
          <p:nvPr/>
        </p:nvSpPr>
        <p:spPr>
          <a:xfrm>
            <a:off x="5577840" y="2551176"/>
            <a:ext cx="18288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3E5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用证据发现关键变化</a:t>
            </a:r>
            <a:endParaRPr lang="en-US" sz="1150" dirty="0"/>
          </a:p>
        </p:txBody>
      </p:sp>
      <p:sp>
        <p:nvSpPr>
          <p:cNvPr id="30" name="ivt:body_quality"/>
          <p:cNvSpPr/>
          <p:nvPr/>
        </p:nvSpPr>
        <p:spPr>
          <a:xfrm>
            <a:off x="9409176" y="2551176"/>
            <a:ext cx="18288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3E5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在交付前发现结构问题</a:t>
            </a:r>
            <a:endParaRPr lang="en-US" sz="1150" dirty="0"/>
          </a:p>
        </p:txBody>
      </p:sp>
      <p:sp>
        <p:nvSpPr>
          <p:cNvPr id="31" name="ivt:body_innovation"/>
          <p:cNvSpPr/>
          <p:nvPr/>
        </p:nvSpPr>
        <p:spPr>
          <a:xfrm>
            <a:off x="1755648" y="4626864"/>
            <a:ext cx="18288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3E5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用小步试验降低不确定性</a:t>
            </a:r>
            <a:endParaRPr lang="en-US" sz="1150" dirty="0"/>
          </a:p>
        </p:txBody>
      </p:sp>
      <p:sp>
        <p:nvSpPr>
          <p:cNvPr id="32" name="ivt:body_collaboration"/>
          <p:cNvSpPr/>
          <p:nvPr/>
        </p:nvSpPr>
        <p:spPr>
          <a:xfrm>
            <a:off x="5577840" y="4626864"/>
            <a:ext cx="18288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3E5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让角色边界和交接清晰</a:t>
            </a:r>
            <a:endParaRPr lang="en-US" sz="1150" dirty="0"/>
          </a:p>
        </p:txBody>
      </p:sp>
      <p:sp>
        <p:nvSpPr>
          <p:cNvPr id="33" name="ivt:body_improvement"/>
          <p:cNvSpPr/>
          <p:nvPr/>
        </p:nvSpPr>
        <p:spPr>
          <a:xfrm>
            <a:off x="9409176" y="4626864"/>
            <a:ext cx="18288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3E5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让每次复盘产生新行动</a:t>
            </a:r>
            <a:endParaRPr lang="en-US" sz="1150" dirty="0"/>
          </a:p>
        </p:txBody>
      </p:sp>
      <p:sp>
        <p:nvSpPr>
          <p:cNvPr id="34" name="ivt:title"/>
          <p:cNvSpPr/>
          <p:nvPr/>
        </p:nvSpPr>
        <p:spPr>
          <a:xfrm>
            <a:off x="603504" y="502920"/>
            <a:ext cx="2788920" cy="4754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6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团队能力地图</a:t>
            </a:r>
            <a:endParaRPr lang="en-US" sz="3200" dirty="0"/>
          </a:p>
        </p:txBody>
      </p:sp>
      <p:sp>
        <p:nvSpPr>
          <p:cNvPr id="35" name="ivt:subtitle"/>
          <p:cNvSpPr/>
          <p:nvPr/>
        </p:nvSpPr>
        <p:spPr>
          <a:xfrm>
            <a:off x="612648" y="1097280"/>
            <a:ext cx="333756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4263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六个能力模块共同支撑稳定交付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团队能力地图</dc:title>
  <dc:subject>Deterministic editable PowerPoint build</dc:subject>
  <dc:creator>content-to-editable-ppt-skill</dc:creator>
  <cp:lastModifiedBy>content-to-editable-ppt-skill</cp:lastModifiedBy>
  <cp:revision>1</cp:revision>
  <dcterms:created xsi:type="dcterms:W3CDTF">1980-01-01T00:00:00Z</dcterms:created>
  <dcterms:modified xsi:type="dcterms:W3CDTF">1980-01-01T00:00:00Z</dcterms:modified>
</cp:coreProperties>
</file>