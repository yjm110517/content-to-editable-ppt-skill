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vt:bg-wave-light"/>
          <p:cNvSpPr/>
          <p:nvPr/>
        </p:nvSpPr>
        <p:spPr>
          <a:xfrm>
            <a:off x="0" y="4791456"/>
            <a:ext cx="12191695" cy="2066544"/>
          </a:xfrm>
          <a:prstGeom prst="ellipse">
            <a:avLst/>
          </a:prstGeom>
          <a:solidFill>
            <a:srgbClr val="E8F4FF"/>
          </a:solidFill>
          <a:ln w="6350">
            <a:solidFill>
              <a:srgbClr val="E8F4FF"/>
            </a:solidFill>
            <a:prstDash val="solid"/>
            <a:headEnd type="none"/>
            <a:tailEnd type="none"/>
          </a:ln>
        </p:spPr>
      </p:sp>
      <p:sp>
        <p:nvSpPr>
          <p:cNvPr id="3" name="ivt:bg-sun-orb"/>
          <p:cNvSpPr/>
          <p:nvPr/>
        </p:nvSpPr>
        <p:spPr>
          <a:xfrm>
            <a:off x="10725912" y="45720"/>
            <a:ext cx="1207008" cy="1207008"/>
          </a:xfrm>
          <a:prstGeom prst="ellipse">
            <a:avLst/>
          </a:prstGeom>
          <a:solidFill>
            <a:srgbClr val="E8F7FF">
              <a:alpha val="82000"/>
            </a:srgbClr>
          </a:solidFill>
          <a:ln w="6350">
            <a:solidFill>
              <a:srgbClr val="D7EDFF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ivt:bg-wave-mid"/>
          <p:cNvSpPr/>
          <p:nvPr/>
        </p:nvSpPr>
        <p:spPr>
          <a:xfrm>
            <a:off x="0" y="5376672"/>
            <a:ext cx="12191695" cy="1481328"/>
          </a:xfrm>
          <a:prstGeom prst="ellipse">
            <a:avLst/>
          </a:prstGeom>
          <a:solidFill>
            <a:srgbClr val="B9DDFF">
              <a:alpha val="82000"/>
            </a:srgbClr>
          </a:solidFill>
          <a:ln w="6350">
            <a:solidFill>
              <a:srgbClr val="B9DDFF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ivt:bg-dot-1"/>
          <p:cNvSpPr/>
          <p:nvPr/>
        </p:nvSpPr>
        <p:spPr>
          <a:xfrm>
            <a:off x="9336024" y="182880"/>
            <a:ext cx="64008" cy="64008"/>
          </a:xfrm>
          <a:prstGeom prst="ellipse">
            <a:avLst/>
          </a:prstGeom>
          <a:solidFill>
            <a:srgbClr val="CDE8FF"/>
          </a:solidFill>
          <a:ln w="6350">
            <a:solidFill>
              <a:srgbClr val="CDE8FF"/>
            </a:solidFill>
            <a:prstDash val="solid"/>
            <a:headEnd type="none"/>
            <a:tailEnd type="none"/>
          </a:ln>
        </p:spPr>
      </p:sp>
      <p:sp>
        <p:nvSpPr>
          <p:cNvPr id="6" name="ivt:bg-dot-2"/>
          <p:cNvSpPr/>
          <p:nvPr/>
        </p:nvSpPr>
        <p:spPr>
          <a:xfrm>
            <a:off x="9610344" y="393192"/>
            <a:ext cx="64008" cy="64008"/>
          </a:xfrm>
          <a:prstGeom prst="ellipse">
            <a:avLst/>
          </a:prstGeom>
          <a:solidFill>
            <a:srgbClr val="CDE8FF"/>
          </a:solidFill>
          <a:ln w="6350">
            <a:solidFill>
              <a:srgbClr val="CDE8FF"/>
            </a:solidFill>
            <a:prstDash val="solid"/>
            <a:headEnd type="none"/>
            <a:tailEnd type="none"/>
          </a:ln>
        </p:spPr>
      </p:sp>
      <p:sp>
        <p:nvSpPr>
          <p:cNvPr id="7" name="ivt:bg-dot-3"/>
          <p:cNvSpPr/>
          <p:nvPr/>
        </p:nvSpPr>
        <p:spPr>
          <a:xfrm>
            <a:off x="9893808" y="612648"/>
            <a:ext cx="64008" cy="64008"/>
          </a:xfrm>
          <a:prstGeom prst="ellipse">
            <a:avLst/>
          </a:prstGeom>
          <a:solidFill>
            <a:srgbClr val="CDE8FF"/>
          </a:solidFill>
          <a:ln w="6350">
            <a:solidFill>
              <a:srgbClr val="CDE8FF"/>
            </a:solidFill>
            <a:prstDash val="solid"/>
            <a:headEnd type="none"/>
            <a:tailEnd type="none"/>
          </a:ln>
        </p:spPr>
      </p:sp>
      <p:sp>
        <p:nvSpPr>
          <p:cNvPr id="8" name="ivt:bg-wave-deep"/>
          <p:cNvSpPr/>
          <p:nvPr/>
        </p:nvSpPr>
        <p:spPr>
          <a:xfrm>
            <a:off x="0" y="5815584"/>
            <a:ext cx="12191695" cy="1042416"/>
          </a:xfrm>
          <a:prstGeom prst="ellipse">
            <a:avLst/>
          </a:prstGeom>
          <a:solidFill>
            <a:srgbClr val="65AEF8">
              <a:alpha val="85000"/>
            </a:srgbClr>
          </a:solidFill>
          <a:ln w="6350">
            <a:solidFill>
              <a:srgbClr val="65AEF8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ivt:loop-1-to-2"/>
          <p:cNvSpPr/>
          <p:nvPr/>
        </p:nvSpPr>
        <p:spPr>
          <a:xfrm>
            <a:off x="7251192" y="1572768"/>
            <a:ext cx="804672" cy="521208"/>
          </a:xfrm>
          <a:custGeom>
            <a:avLst/>
            <a:gdLst/>
            <a:ahLst/>
            <a:cxnLst/>
            <a:rect l="l" t="t" r="r" b="b"/>
            <a:pathLst>
              <a:path w="804672" h="521208">
                <a:moveTo>
                  <a:pt x="0" y="0"/>
                </a:moveTo>
                <a:cubicBezTo>
                  <a:pt x="283464" y="27432"/>
                  <a:pt x="676656" y="219456"/>
                  <a:pt x="786384" y="502920"/>
                </a:cubicBezTo>
              </a:path>
            </a:pathLst>
          </a:custGeom>
          <a:solidFill>
            <a:srgbClr val="FFFFFF">
              <a:alpha val="0"/>
            </a:srgbClr>
          </a:solidFill>
          <a:ln w="40640">
            <a:solidFill>
              <a:srgbClr val="3E88F4"/>
            </a:solidFill>
            <a:prstDash val="solid"/>
            <a:headEnd type="none"/>
            <a:tailEnd type="triangle"/>
          </a:ln>
        </p:spPr>
      </p:sp>
      <p:sp>
        <p:nvSpPr>
          <p:cNvPr id="10" name="ivt:loop-2-to-3"/>
          <p:cNvSpPr/>
          <p:nvPr/>
        </p:nvSpPr>
        <p:spPr>
          <a:xfrm>
            <a:off x="8458200" y="3246120"/>
            <a:ext cx="137160" cy="502920"/>
          </a:xfrm>
          <a:custGeom>
            <a:avLst/>
            <a:gdLst/>
            <a:ahLst/>
            <a:cxnLst/>
            <a:rect l="l" t="t" r="r" b="b"/>
            <a:pathLst>
              <a:path w="137160" h="502920">
                <a:moveTo>
                  <a:pt x="0" y="0"/>
                </a:moveTo>
                <a:cubicBezTo>
                  <a:pt x="100584" y="146304"/>
                  <a:pt x="128016" y="338328"/>
                  <a:pt x="73152" y="484632"/>
                </a:cubicBezTo>
              </a:path>
            </a:pathLst>
          </a:custGeom>
          <a:solidFill>
            <a:srgbClr val="FFFFFF">
              <a:alpha val="0"/>
            </a:srgbClr>
          </a:solidFill>
          <a:ln w="40640">
            <a:solidFill>
              <a:srgbClr val="3E88F4"/>
            </a:solidFill>
            <a:prstDash val="solid"/>
            <a:headEnd type="none"/>
            <a:tailEnd type="triangle"/>
          </a:ln>
        </p:spPr>
      </p:sp>
      <p:sp>
        <p:nvSpPr>
          <p:cNvPr id="11" name="ivt:loop-3-to-4"/>
          <p:cNvSpPr/>
          <p:nvPr/>
        </p:nvSpPr>
        <p:spPr>
          <a:xfrm>
            <a:off x="7223760" y="4754880"/>
            <a:ext cx="868680" cy="658368"/>
          </a:xfrm>
          <a:custGeom>
            <a:avLst/>
            <a:gdLst/>
            <a:ahLst/>
            <a:cxnLst/>
            <a:rect l="l" t="t" r="r" b="b"/>
            <a:pathLst>
              <a:path w="868680" h="658368">
                <a:moveTo>
                  <a:pt x="850392" y="0"/>
                </a:moveTo>
                <a:cubicBezTo>
                  <a:pt x="731520" y="356616"/>
                  <a:pt x="365760" y="621792"/>
                  <a:pt x="18288" y="603504"/>
                </a:cubicBezTo>
              </a:path>
            </a:pathLst>
          </a:custGeom>
          <a:solidFill>
            <a:srgbClr val="FFFFFF">
              <a:alpha val="0"/>
            </a:srgbClr>
          </a:solidFill>
          <a:ln w="40640">
            <a:solidFill>
              <a:srgbClr val="3E88F4"/>
            </a:solidFill>
            <a:prstDash val="solid"/>
            <a:headEnd type="none"/>
            <a:tailEnd type="triangle"/>
          </a:ln>
        </p:spPr>
      </p:sp>
      <p:sp>
        <p:nvSpPr>
          <p:cNvPr id="12" name="ivt:loop-4-to-5"/>
          <p:cNvSpPr/>
          <p:nvPr/>
        </p:nvSpPr>
        <p:spPr>
          <a:xfrm>
            <a:off x="3995928" y="4727448"/>
            <a:ext cx="841248" cy="612648"/>
          </a:xfrm>
          <a:custGeom>
            <a:avLst/>
            <a:gdLst/>
            <a:ahLst/>
            <a:cxnLst/>
            <a:rect l="l" t="t" r="r" b="b"/>
            <a:pathLst>
              <a:path w="841248" h="612648">
                <a:moveTo>
                  <a:pt x="822960" y="594360"/>
                </a:moveTo>
                <a:cubicBezTo>
                  <a:pt x="512064" y="566928"/>
                  <a:pt x="137160" y="256032"/>
                  <a:pt x="18288" y="64008"/>
                </a:cubicBezTo>
              </a:path>
            </a:pathLst>
          </a:custGeom>
          <a:solidFill>
            <a:srgbClr val="FFFFFF">
              <a:alpha val="0"/>
            </a:srgbClr>
          </a:solidFill>
          <a:ln w="40640">
            <a:solidFill>
              <a:srgbClr val="3E88F4"/>
            </a:solidFill>
            <a:prstDash val="solid"/>
            <a:headEnd type="none"/>
            <a:tailEnd type="triangle"/>
          </a:ln>
        </p:spPr>
      </p:sp>
      <p:sp>
        <p:nvSpPr>
          <p:cNvPr id="13" name="ivt:loop-5-to-6"/>
          <p:cNvSpPr/>
          <p:nvPr/>
        </p:nvSpPr>
        <p:spPr>
          <a:xfrm>
            <a:off x="3511296" y="3191256"/>
            <a:ext cx="146304" cy="557784"/>
          </a:xfrm>
          <a:custGeom>
            <a:avLst/>
            <a:gdLst/>
            <a:ahLst/>
            <a:cxnLst/>
            <a:rect l="l" t="t" r="r" b="b"/>
            <a:pathLst>
              <a:path w="146304" h="557784">
                <a:moveTo>
                  <a:pt x="73152" y="539496"/>
                </a:moveTo>
                <a:cubicBezTo>
                  <a:pt x="9144" y="384048"/>
                  <a:pt x="27432" y="137160"/>
                  <a:pt x="91440" y="9144"/>
                </a:cubicBezTo>
              </a:path>
            </a:pathLst>
          </a:custGeom>
          <a:solidFill>
            <a:srgbClr val="FFFFFF">
              <a:alpha val="0"/>
            </a:srgbClr>
          </a:solidFill>
          <a:ln w="40640">
            <a:solidFill>
              <a:srgbClr val="3E88F4"/>
            </a:solidFill>
            <a:prstDash val="solid"/>
            <a:headEnd type="none"/>
            <a:tailEnd type="triangle"/>
          </a:ln>
        </p:spPr>
      </p:sp>
      <p:sp>
        <p:nvSpPr>
          <p:cNvPr id="14" name="ivt:loop-6-to-1"/>
          <p:cNvSpPr/>
          <p:nvPr/>
        </p:nvSpPr>
        <p:spPr>
          <a:xfrm>
            <a:off x="3867912" y="1554480"/>
            <a:ext cx="868680" cy="576072"/>
          </a:xfrm>
          <a:custGeom>
            <a:avLst/>
            <a:gdLst/>
            <a:ahLst/>
            <a:cxnLst/>
            <a:rect l="l" t="t" r="r" b="b"/>
            <a:pathLst>
              <a:path w="868680" h="576072">
                <a:moveTo>
                  <a:pt x="9144" y="557784"/>
                </a:moveTo>
                <a:cubicBezTo>
                  <a:pt x="201168" y="237744"/>
                  <a:pt x="566928" y="54864"/>
                  <a:pt x="841248" y="18288"/>
                </a:cubicBezTo>
              </a:path>
            </a:pathLst>
          </a:custGeom>
          <a:solidFill>
            <a:srgbClr val="FFFFFF">
              <a:alpha val="0"/>
            </a:srgbClr>
          </a:solidFill>
          <a:ln w="40640">
            <a:solidFill>
              <a:srgbClr val="3E88F4"/>
            </a:solidFill>
            <a:prstDash val="solid"/>
            <a:headEnd type="none"/>
            <a:tailEnd type="triangle"/>
          </a:ln>
        </p:spPr>
      </p:sp>
      <p:sp>
        <p:nvSpPr>
          <p:cNvPr id="15" name="ivt:central-ring-outer"/>
          <p:cNvSpPr/>
          <p:nvPr/>
        </p:nvSpPr>
        <p:spPr>
          <a:xfrm>
            <a:off x="5010912" y="2249424"/>
            <a:ext cx="2057400" cy="2267712"/>
          </a:xfrm>
          <a:prstGeom prst="ellipse">
            <a:avLst/>
          </a:prstGeom>
          <a:solidFill>
            <a:srgbClr val="E9FBFF">
              <a:alpha val="58000"/>
            </a:srgbClr>
          </a:solidFill>
          <a:ln w="16510">
            <a:solidFill>
              <a:srgbClr val="7EE7F5">
                <a:alpha val="88000"/>
              </a:srgbClr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114300" dist="12700" dir="2700000">
              <a:srgbClr val="43D9F3">
                <a:alpha val="18000"/>
              </a:srgbClr>
            </a:outerShdw>
          </a:effectLst>
        </p:spPr>
      </p:sp>
      <p:sp>
        <p:nvSpPr>
          <p:cNvPr id="16" name="ivt:header-tab"/>
          <p:cNvSpPr/>
          <p:nvPr/>
        </p:nvSpPr>
        <p:spPr>
          <a:xfrm>
            <a:off x="164592" y="173736"/>
            <a:ext cx="1874520" cy="411480"/>
          </a:xfrm>
          <a:prstGeom prst="roundRect">
            <a:avLst/>
          </a:prstGeom>
          <a:solidFill>
            <a:srgbClr val="0758D9"/>
          </a:solidFill>
          <a:ln w="10160">
            <a:solidFill>
              <a:srgbClr val="0758D9"/>
            </a:solidFill>
            <a:prstDash val="solid"/>
            <a:headEnd type="none"/>
            <a:tailEnd type="none"/>
          </a:ln>
        </p:spPr>
      </p:sp>
      <p:sp>
        <p:nvSpPr>
          <p:cNvPr id="17" name="ivt:panel-input-outer"/>
          <p:cNvSpPr/>
          <p:nvPr/>
        </p:nvSpPr>
        <p:spPr>
          <a:xfrm>
            <a:off x="438912" y="1682496"/>
            <a:ext cx="1828800" cy="3621024"/>
          </a:xfrm>
          <a:prstGeom prst="roundRect">
            <a:avLst/>
          </a:prstGeom>
          <a:solidFill>
            <a:srgbClr val="E9F4FF">
              <a:alpha val="84000"/>
            </a:srgbClr>
          </a:solidFill>
          <a:ln w="12700">
            <a:solidFill>
              <a:srgbClr val="B3D7FF"/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88900" dist="25400" dir="2700000">
              <a:srgbClr val="5B8EC4">
                <a:alpha val="16000"/>
              </a:srgbClr>
            </a:outerShdw>
          </a:effectLst>
        </p:spPr>
      </p:sp>
      <p:sp>
        <p:nvSpPr>
          <p:cNvPr id="18" name="ivt:panel-output-outer"/>
          <p:cNvSpPr/>
          <p:nvPr/>
        </p:nvSpPr>
        <p:spPr>
          <a:xfrm>
            <a:off x="9747504" y="1682496"/>
            <a:ext cx="1828800" cy="3621024"/>
          </a:xfrm>
          <a:prstGeom prst="roundRect">
            <a:avLst/>
          </a:prstGeom>
          <a:solidFill>
            <a:srgbClr val="E9F4FF">
              <a:alpha val="84000"/>
            </a:srgbClr>
          </a:solidFill>
          <a:ln w="12700">
            <a:solidFill>
              <a:srgbClr val="B3D7FF"/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88900" dist="25400" dir="2700000">
              <a:srgbClr val="5B8EC4">
                <a:alpha val="16000"/>
              </a:srgbClr>
            </a:outerShdw>
          </a:effectLst>
        </p:spPr>
      </p:sp>
      <p:sp>
        <p:nvSpPr>
          <p:cNvPr id="19" name="ivt:central-ring-inner"/>
          <p:cNvSpPr/>
          <p:nvPr/>
        </p:nvSpPr>
        <p:spPr>
          <a:xfrm>
            <a:off x="5102352" y="2340864"/>
            <a:ext cx="1874520" cy="2084832"/>
          </a:xfrm>
          <a:prstGeom prst="ellipse">
            <a:avLst/>
          </a:prstGeom>
          <a:solidFill>
            <a:srgbClr val="FFFFFF">
              <a:alpha val="82000"/>
            </a:srgbClr>
          </a:solidFill>
          <a:ln w="15240">
            <a:solidFill>
              <a:srgbClr val="BCEFFF"/>
            </a:solidFill>
            <a:prstDash val="solid"/>
            <a:headEnd type="none"/>
            <a:tailEnd type="none"/>
          </a:ln>
        </p:spPr>
      </p:sp>
      <p:sp>
        <p:nvSpPr>
          <p:cNvPr id="20" name="ivt:header-tab-text"/>
          <p:cNvSpPr/>
          <p:nvPr/>
        </p:nvSpPr>
        <p:spPr>
          <a:xfrm>
            <a:off x="310896" y="201168"/>
            <a:ext cx="1600200" cy="3383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| 学习闭环</a:t>
            </a:r>
            <a:endParaRPr lang="en-US" sz="1900" dirty="0"/>
          </a:p>
        </p:txBody>
      </p:sp>
      <p:sp>
        <p:nvSpPr>
          <p:cNvPr id="21" name="ivt:subtitle"/>
          <p:cNvSpPr/>
          <p:nvPr/>
        </p:nvSpPr>
        <p:spPr>
          <a:xfrm>
            <a:off x="310896" y="685800"/>
            <a:ext cx="2560320" cy="2377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263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让目标、行动与反馈持续连接</a:t>
            </a:r>
            <a:endParaRPr lang="en-US" sz="1400" dirty="0"/>
          </a:p>
        </p:txBody>
      </p:sp>
      <p:sp>
        <p:nvSpPr>
          <p:cNvPr id="22" name="ivt:title"/>
          <p:cNvSpPr/>
          <p:nvPr/>
        </p:nvSpPr>
        <p:spPr>
          <a:xfrm>
            <a:off x="3767328" y="246888"/>
            <a:ext cx="4983480" cy="6126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082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驱动的学习闭环</a:t>
            </a:r>
            <a:endParaRPr lang="en-US" sz="3400" dirty="0"/>
          </a:p>
        </p:txBody>
      </p:sp>
      <p:sp>
        <p:nvSpPr>
          <p:cNvPr id="23" name="ivt:panel-input-inner"/>
          <p:cNvSpPr/>
          <p:nvPr/>
        </p:nvSpPr>
        <p:spPr>
          <a:xfrm>
            <a:off x="502920" y="2176272"/>
            <a:ext cx="1700784" cy="301752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0160">
            <a:solidFill>
              <a:srgbClr val="D5E9FF"/>
            </a:solidFill>
            <a:prstDash val="solid"/>
            <a:headEnd type="none"/>
            <a:tailEnd type="none"/>
          </a:ln>
        </p:spPr>
      </p:sp>
      <p:sp>
        <p:nvSpPr>
          <p:cNvPr id="24" name="ivt:panel-output-inner"/>
          <p:cNvSpPr/>
          <p:nvPr/>
        </p:nvSpPr>
        <p:spPr>
          <a:xfrm>
            <a:off x="9811512" y="2176272"/>
            <a:ext cx="1700784" cy="301752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0160">
            <a:solidFill>
              <a:srgbClr val="D5E9FF"/>
            </a:solidFill>
            <a:prstDash val="solid"/>
            <a:headEnd type="none"/>
            <a:tailEnd type="none"/>
          </a:ln>
        </p:spPr>
      </p:sp>
      <p:sp>
        <p:nvSpPr>
          <p:cNvPr id="25" name="ivt:step-card-1"/>
          <p:cNvSpPr/>
          <p:nvPr/>
        </p:nvSpPr>
        <p:spPr>
          <a:xfrm>
            <a:off x="4818888" y="1088136"/>
            <a:ext cx="2395728" cy="987552"/>
          </a:xfrm>
          <a:prstGeom prst="roundRect">
            <a:avLst/>
          </a:prstGeom>
          <a:solidFill>
            <a:srgbClr val="FFFFFF">
              <a:alpha val="93000"/>
            </a:srgbClr>
          </a:solidFill>
          <a:ln w="13970">
            <a:solidFill>
              <a:srgbClr val="B6D8FF"/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76200" dist="25400" dir="2700000">
              <a:srgbClr val="5799DB">
                <a:alpha val="16000"/>
              </a:srgbClr>
            </a:outerShdw>
          </a:effectLst>
        </p:spPr>
      </p:sp>
      <p:sp>
        <p:nvSpPr>
          <p:cNvPr id="26" name="ivt:step-card-2"/>
          <p:cNvSpPr/>
          <p:nvPr/>
        </p:nvSpPr>
        <p:spPr>
          <a:xfrm>
            <a:off x="7150608" y="2176272"/>
            <a:ext cx="2231136" cy="1005840"/>
          </a:xfrm>
          <a:prstGeom prst="roundRect">
            <a:avLst/>
          </a:prstGeom>
          <a:solidFill>
            <a:srgbClr val="FFFFFF">
              <a:alpha val="93000"/>
            </a:srgbClr>
          </a:solidFill>
          <a:ln w="13970">
            <a:solidFill>
              <a:srgbClr val="B6D8FF"/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76200" dist="25400" dir="2700000">
              <a:srgbClr val="5799DB">
                <a:alpha val="16000"/>
              </a:srgbClr>
            </a:outerShdw>
          </a:effectLst>
        </p:spPr>
      </p:sp>
      <p:sp>
        <p:nvSpPr>
          <p:cNvPr id="27" name="ivt:step-card-3"/>
          <p:cNvSpPr/>
          <p:nvPr/>
        </p:nvSpPr>
        <p:spPr>
          <a:xfrm>
            <a:off x="7150608" y="3749040"/>
            <a:ext cx="2231136" cy="1005840"/>
          </a:xfrm>
          <a:prstGeom prst="roundRect">
            <a:avLst/>
          </a:prstGeom>
          <a:solidFill>
            <a:srgbClr val="FFFFFF">
              <a:alpha val="93000"/>
            </a:srgbClr>
          </a:solidFill>
          <a:ln w="13970">
            <a:solidFill>
              <a:srgbClr val="B6D8FF"/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76200" dist="25400" dir="2700000">
              <a:srgbClr val="5799DB">
                <a:alpha val="16000"/>
              </a:srgbClr>
            </a:outerShdw>
          </a:effectLst>
        </p:spPr>
      </p:sp>
      <p:sp>
        <p:nvSpPr>
          <p:cNvPr id="28" name="ivt:step-card-4"/>
          <p:cNvSpPr/>
          <p:nvPr/>
        </p:nvSpPr>
        <p:spPr>
          <a:xfrm>
            <a:off x="4818888" y="4754880"/>
            <a:ext cx="2322576" cy="987552"/>
          </a:xfrm>
          <a:prstGeom prst="roundRect">
            <a:avLst/>
          </a:prstGeom>
          <a:solidFill>
            <a:srgbClr val="FFFFFF">
              <a:alpha val="93000"/>
            </a:srgbClr>
          </a:solidFill>
          <a:ln w="13970">
            <a:solidFill>
              <a:srgbClr val="B6D8FF"/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76200" dist="25400" dir="2700000">
              <a:srgbClr val="5799DB">
                <a:alpha val="16000"/>
              </a:srgbClr>
            </a:outerShdw>
          </a:effectLst>
        </p:spPr>
      </p:sp>
      <p:sp>
        <p:nvSpPr>
          <p:cNvPr id="29" name="ivt:step-card-5"/>
          <p:cNvSpPr/>
          <p:nvPr/>
        </p:nvSpPr>
        <p:spPr>
          <a:xfrm>
            <a:off x="2788920" y="3749040"/>
            <a:ext cx="2103120" cy="969264"/>
          </a:xfrm>
          <a:prstGeom prst="roundRect">
            <a:avLst/>
          </a:prstGeom>
          <a:solidFill>
            <a:srgbClr val="FFFFFF">
              <a:alpha val="93000"/>
            </a:srgbClr>
          </a:solidFill>
          <a:ln w="13970">
            <a:solidFill>
              <a:srgbClr val="B6D8FF"/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76200" dist="25400" dir="2700000">
              <a:srgbClr val="5799DB">
                <a:alpha val="16000"/>
              </a:srgbClr>
            </a:outerShdw>
          </a:effectLst>
        </p:spPr>
      </p:sp>
      <p:sp>
        <p:nvSpPr>
          <p:cNvPr id="30" name="ivt:step-card-6"/>
          <p:cNvSpPr/>
          <p:nvPr/>
        </p:nvSpPr>
        <p:spPr>
          <a:xfrm>
            <a:off x="2788920" y="2176272"/>
            <a:ext cx="2103120" cy="1005840"/>
          </a:xfrm>
          <a:prstGeom prst="roundRect">
            <a:avLst/>
          </a:prstGeom>
          <a:solidFill>
            <a:srgbClr val="FFFFFF">
              <a:alpha val="93000"/>
            </a:srgbClr>
          </a:solidFill>
          <a:ln w="13970">
            <a:solidFill>
              <a:srgbClr val="B6D8FF"/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76200" dist="25400" dir="2700000">
              <a:srgbClr val="5799DB">
                <a:alpha val="16000"/>
              </a:srgbClr>
            </a:outerShdw>
          </a:effectLst>
        </p:spPr>
      </p:sp>
      <p:sp>
        <p:nvSpPr>
          <p:cNvPr id="31" name="ivt:footer-pill"/>
          <p:cNvSpPr/>
          <p:nvPr/>
        </p:nvSpPr>
        <p:spPr>
          <a:xfrm>
            <a:off x="2560320" y="5916168"/>
            <a:ext cx="7306056" cy="740664"/>
          </a:xfrm>
          <a:prstGeom prst="roundRect">
            <a:avLst/>
          </a:prstGeom>
          <a:solidFill>
            <a:srgbClr val="126AF2"/>
          </a:solidFill>
          <a:ln w="19050">
            <a:solidFill>
              <a:srgbClr val="FFFFFF"/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101600" dist="25400" dir="5400000">
              <a:srgbClr val="0068D9">
                <a:alpha val="30000"/>
              </a:srgbClr>
            </a:outerShdw>
          </a:effectLst>
        </p:spPr>
      </p:sp>
      <p:sp>
        <p:nvSpPr>
          <p:cNvPr id="32" name="ivt:panel-input-header"/>
          <p:cNvSpPr/>
          <p:nvPr/>
        </p:nvSpPr>
        <p:spPr>
          <a:xfrm>
            <a:off x="557784" y="1773936"/>
            <a:ext cx="1609344" cy="393192"/>
          </a:xfrm>
          <a:prstGeom prst="roundRect">
            <a:avLst/>
          </a:prstGeom>
          <a:solidFill>
            <a:srgbClr val="0870EA"/>
          </a:solidFill>
          <a:ln w="10160">
            <a:solidFill>
              <a:srgbClr val="0870EA"/>
            </a:solidFill>
            <a:prstDash val="solid"/>
            <a:headEnd type="none"/>
            <a:tailEnd type="none"/>
          </a:ln>
        </p:spPr>
      </p:sp>
      <p:sp>
        <p:nvSpPr>
          <p:cNvPr id="33" name="ivt:panel-output-header"/>
          <p:cNvSpPr/>
          <p:nvPr/>
        </p:nvSpPr>
        <p:spPr>
          <a:xfrm>
            <a:off x="9866376" y="1773936"/>
            <a:ext cx="1609344" cy="393192"/>
          </a:xfrm>
          <a:prstGeom prst="roundRect">
            <a:avLst/>
          </a:prstGeom>
          <a:solidFill>
            <a:srgbClr val="0870EA"/>
          </a:solidFill>
          <a:ln w="10160">
            <a:solidFill>
              <a:srgbClr val="0870EA"/>
            </a:solidFill>
            <a:prstDash val="solid"/>
            <a:headEnd type="none"/>
            <a:tailEnd type="none"/>
          </a:ln>
        </p:spPr>
      </p:sp>
      <p:sp>
        <p:nvSpPr>
          <p:cNvPr id="34" name="ivt:panel-input-title"/>
          <p:cNvSpPr/>
          <p:nvPr/>
        </p:nvSpPr>
        <p:spPr>
          <a:xfrm>
            <a:off x="658368" y="1810512"/>
            <a:ext cx="1408176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学习输入</a:t>
            </a:r>
            <a:endParaRPr lang="en-US" sz="1900" dirty="0"/>
          </a:p>
        </p:txBody>
      </p:sp>
      <p:sp>
        <p:nvSpPr>
          <p:cNvPr id="35" name="ivt:panel-input-divider-1"/>
          <p:cNvSpPr/>
          <p:nvPr/>
        </p:nvSpPr>
        <p:spPr>
          <a:xfrm>
            <a:off x="585216" y="3236976"/>
            <a:ext cx="1536192" cy="9144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6E8F8"/>
            </a:solidFill>
            <a:prstDash val="solid"/>
            <a:headEnd type="none"/>
            <a:tailEnd type="none"/>
          </a:ln>
        </p:spPr>
      </p:sp>
      <p:sp>
        <p:nvSpPr>
          <p:cNvPr id="36" name="ivt:panel-input-divider-2"/>
          <p:cNvSpPr/>
          <p:nvPr/>
        </p:nvSpPr>
        <p:spPr>
          <a:xfrm>
            <a:off x="585216" y="4224528"/>
            <a:ext cx="1536192" cy="9144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6E8F8"/>
            </a:solidFill>
            <a:prstDash val="solid"/>
            <a:headEnd type="none"/>
            <a:tailEnd type="none"/>
          </a:ln>
        </p:spPr>
      </p:sp>
      <p:sp>
        <p:nvSpPr>
          <p:cNvPr id="37" name="ivt:panel-output-title"/>
          <p:cNvSpPr/>
          <p:nvPr/>
        </p:nvSpPr>
        <p:spPr>
          <a:xfrm>
            <a:off x="9966960" y="1810512"/>
            <a:ext cx="1408176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智能输出</a:t>
            </a:r>
            <a:endParaRPr lang="en-US" sz="1900" dirty="0"/>
          </a:p>
        </p:txBody>
      </p:sp>
      <p:sp>
        <p:nvSpPr>
          <p:cNvPr id="38" name="ivt:panel-output-divider-1"/>
          <p:cNvSpPr/>
          <p:nvPr/>
        </p:nvSpPr>
        <p:spPr>
          <a:xfrm>
            <a:off x="9893808" y="3236976"/>
            <a:ext cx="1536192" cy="9144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6E8F8"/>
            </a:solidFill>
            <a:prstDash val="solid"/>
            <a:headEnd type="none"/>
            <a:tailEnd type="none"/>
          </a:ln>
        </p:spPr>
      </p:sp>
      <p:sp>
        <p:nvSpPr>
          <p:cNvPr id="39" name="ivt:panel-output-divider-2"/>
          <p:cNvSpPr/>
          <p:nvPr/>
        </p:nvSpPr>
        <p:spPr>
          <a:xfrm>
            <a:off x="9893808" y="4224528"/>
            <a:ext cx="1536192" cy="9144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6E8F8"/>
            </a:solidFill>
            <a:prstDash val="solid"/>
            <a:headEnd type="none"/>
            <a:tailEnd type="none"/>
          </a:ln>
        </p:spPr>
      </p:sp>
      <p:sp>
        <p:nvSpPr>
          <p:cNvPr id="40" name="ivt:footer-star-left"/>
          <p:cNvSpPr/>
          <p:nvPr/>
        </p:nvSpPr>
        <p:spPr>
          <a:xfrm>
            <a:off x="3017520" y="6163056"/>
            <a:ext cx="228600" cy="228600"/>
          </a:xfrm>
          <a:prstGeom prst="star5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ivt:footer-star-right"/>
          <p:cNvSpPr/>
          <p:nvPr/>
        </p:nvSpPr>
        <p:spPr>
          <a:xfrm>
            <a:off x="9144000" y="6163056"/>
            <a:ext cx="228600" cy="228600"/>
          </a:xfrm>
          <a:prstGeom prst="star5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42" name="ivt:icon-course" descr="Polished blue course-folder ic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2459736"/>
            <a:ext cx="685800" cy="612648"/>
          </a:xfrm>
          <a:prstGeom prst="rect">
            <a:avLst/>
          </a:prstGeom>
        </p:spPr>
      </p:pic>
      <p:pic>
        <p:nvPicPr>
          <p:cNvPr id="43" name="ivt:icon-behavior" descr="Polished circular learning-behavior pulse ico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" y="3419856"/>
            <a:ext cx="694944" cy="704088"/>
          </a:xfrm>
          <a:prstGeom prst="rect">
            <a:avLst/>
          </a:prstGeom>
        </p:spPr>
      </p:pic>
      <p:pic>
        <p:nvPicPr>
          <p:cNvPr id="44" name="ivt:icon-rubric" descr="Polished clipboard rubric ico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7512" y="4361688"/>
            <a:ext cx="658368" cy="722376"/>
          </a:xfrm>
          <a:prstGeom prst="rect">
            <a:avLst/>
          </a:prstGeom>
        </p:spPr>
      </p:pic>
      <p:pic>
        <p:nvPicPr>
          <p:cNvPr id="45" name="ivt:icon-knowledge" descr="Polished blue knowledge-graph ico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12096" y="2441448"/>
            <a:ext cx="731520" cy="704088"/>
          </a:xfrm>
          <a:prstGeom prst="rect">
            <a:avLst/>
          </a:prstGeom>
        </p:spPr>
      </p:pic>
      <p:pic>
        <p:nvPicPr>
          <p:cNvPr id="46" name="ivt:icon-profile" descr="Polished capability-profile chart icon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57816" y="3419856"/>
            <a:ext cx="704088" cy="704088"/>
          </a:xfrm>
          <a:prstGeom prst="rect">
            <a:avLst/>
          </a:prstGeom>
        </p:spPr>
      </p:pic>
      <p:pic>
        <p:nvPicPr>
          <p:cNvPr id="47" name="ivt:icon-recommend" descr="Polished compass recommendation icon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57816" y="4361688"/>
            <a:ext cx="713232" cy="749808"/>
          </a:xfrm>
          <a:prstGeom prst="rect">
            <a:avLst/>
          </a:prstGeom>
        </p:spPr>
      </p:pic>
      <p:pic>
        <p:nvPicPr>
          <p:cNvPr id="48" name="ivt:icon-learner" descr="Polished blue learner silhouette and AI star icon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321808" y="2724912"/>
            <a:ext cx="1444752" cy="1106424"/>
          </a:xfrm>
          <a:prstGeom prst="rect">
            <a:avLst/>
          </a:prstGeom>
        </p:spPr>
      </p:pic>
      <p:pic>
        <p:nvPicPr>
          <p:cNvPr id="49" name="ivt:icon-goal" descr="Polished target-and-flag icon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093208" y="1197864"/>
            <a:ext cx="905256" cy="813816"/>
          </a:xfrm>
          <a:prstGeom prst="rect">
            <a:avLst/>
          </a:prstGeom>
        </p:spPr>
      </p:pic>
      <p:pic>
        <p:nvPicPr>
          <p:cNvPr id="50" name="ivt:icon-resource" descr="Polished book and network icon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15784" y="2304288"/>
            <a:ext cx="960120" cy="786384"/>
          </a:xfrm>
          <a:prstGeom prst="rect">
            <a:avLst/>
          </a:prstGeom>
        </p:spPr>
      </p:pic>
      <p:pic>
        <p:nvPicPr>
          <p:cNvPr id="51" name="ivt:icon-practice" descr="Polished robot coaching icon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406640" y="3785616"/>
            <a:ext cx="969264" cy="886968"/>
          </a:xfrm>
          <a:prstGeom prst="rect">
            <a:avLst/>
          </a:prstGeom>
        </p:spPr>
      </p:pic>
      <p:pic>
        <p:nvPicPr>
          <p:cNvPr id="52" name="ivt:icon-collab" descr="Polished peer collaboration icon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992624" y="4809744"/>
            <a:ext cx="1051560" cy="813816"/>
          </a:xfrm>
          <a:prstGeom prst="rect">
            <a:avLst/>
          </a:prstGeom>
        </p:spPr>
      </p:pic>
      <p:pic>
        <p:nvPicPr>
          <p:cNvPr id="53" name="ivt:icon-evaluate" descr="Polished shield assessment icon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054096" y="3840480"/>
            <a:ext cx="813816" cy="822960"/>
          </a:xfrm>
          <a:prstGeom prst="rect">
            <a:avLst/>
          </a:prstGeom>
        </p:spPr>
      </p:pic>
      <p:pic>
        <p:nvPicPr>
          <p:cNvPr id="54" name="ivt:icon-improve" descr="Polished upward iteration icon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999232" y="2212848"/>
            <a:ext cx="905256" cy="822960"/>
          </a:xfrm>
          <a:prstGeom prst="rect">
            <a:avLst/>
          </a:prstGeom>
        </p:spPr>
      </p:pic>
      <p:sp>
        <p:nvSpPr>
          <p:cNvPr id="55" name="ivt:footer-text"/>
          <p:cNvSpPr/>
          <p:nvPr/>
        </p:nvSpPr>
        <p:spPr>
          <a:xfrm>
            <a:off x="3419856" y="6044184"/>
            <a:ext cx="5385816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每一次反馈，都让下一轮学习更精准</a:t>
            </a:r>
            <a:endParaRPr lang="en-US" sz="2400" dirty="0"/>
          </a:p>
        </p:txBody>
      </p:sp>
      <p:sp>
        <p:nvSpPr>
          <p:cNvPr id="56" name="ivt:page-number"/>
          <p:cNvSpPr/>
          <p:nvPr/>
        </p:nvSpPr>
        <p:spPr>
          <a:xfrm>
            <a:off x="11247120" y="6291072"/>
            <a:ext cx="694944" cy="2468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altLang="en-US" sz="1500" b="1" dirty="0">
                <a:solidFill>
                  <a:srgbClr val="073D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06</a:t>
            </a:r>
            <a:endParaRPr lang="en-US" sz="1500" dirty="0"/>
          </a:p>
        </p:txBody>
      </p:sp>
      <p:sp>
        <p:nvSpPr>
          <p:cNvPr id="57" name="ivt:panel-input-item-course"/>
          <p:cNvSpPr/>
          <p:nvPr/>
        </p:nvSpPr>
        <p:spPr>
          <a:xfrm>
            <a:off x="1426464" y="2660904"/>
            <a:ext cx="658368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91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课程资料</a:t>
            </a:r>
            <a:endParaRPr lang="en-US" sz="1400" dirty="0"/>
          </a:p>
        </p:txBody>
      </p:sp>
      <p:sp>
        <p:nvSpPr>
          <p:cNvPr id="58" name="ivt:panel-input-item-behavior"/>
          <p:cNvSpPr/>
          <p:nvPr/>
        </p:nvSpPr>
        <p:spPr>
          <a:xfrm>
            <a:off x="1426464" y="3639312"/>
            <a:ext cx="658368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91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学习行为</a:t>
            </a:r>
            <a:endParaRPr lang="en-US" sz="1400" dirty="0"/>
          </a:p>
        </p:txBody>
      </p:sp>
      <p:sp>
        <p:nvSpPr>
          <p:cNvPr id="59" name="ivt:panel-input-item-rubric"/>
          <p:cNvSpPr/>
          <p:nvPr/>
        </p:nvSpPr>
        <p:spPr>
          <a:xfrm>
            <a:off x="1426464" y="4617720"/>
            <a:ext cx="658368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91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评价标准</a:t>
            </a:r>
            <a:endParaRPr lang="en-US" sz="1400" dirty="0"/>
          </a:p>
        </p:txBody>
      </p:sp>
      <p:sp>
        <p:nvSpPr>
          <p:cNvPr id="60" name="ivt:panel-output-item-knowledge"/>
          <p:cNvSpPr/>
          <p:nvPr/>
        </p:nvSpPr>
        <p:spPr>
          <a:xfrm>
            <a:off x="10725912" y="2660904"/>
            <a:ext cx="658368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91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</a:t>
            </a:r>
            <a:endParaRPr lang="en-US" sz="1400" dirty="0"/>
          </a:p>
        </p:txBody>
      </p:sp>
      <p:sp>
        <p:nvSpPr>
          <p:cNvPr id="61" name="ivt:panel-output-item-profile"/>
          <p:cNvSpPr/>
          <p:nvPr/>
        </p:nvSpPr>
        <p:spPr>
          <a:xfrm>
            <a:off x="10725912" y="3639312"/>
            <a:ext cx="658368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91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能力画像</a:t>
            </a:r>
            <a:endParaRPr lang="en-US" sz="1400" dirty="0"/>
          </a:p>
        </p:txBody>
      </p:sp>
      <p:sp>
        <p:nvSpPr>
          <p:cNvPr id="62" name="ivt:panel-output-item-recommend"/>
          <p:cNvSpPr/>
          <p:nvPr/>
        </p:nvSpPr>
        <p:spPr>
          <a:xfrm>
            <a:off x="10725912" y="4617720"/>
            <a:ext cx="658368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91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1400" dirty="0"/>
          </a:p>
        </p:txBody>
      </p:sp>
      <p:sp>
        <p:nvSpPr>
          <p:cNvPr id="63" name="ivt:learner-label"/>
          <p:cNvSpPr/>
          <p:nvPr/>
        </p:nvSpPr>
        <p:spPr>
          <a:xfrm>
            <a:off x="5486400" y="3895344"/>
            <a:ext cx="1106424" cy="3474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0751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</a:t>
            </a:r>
            <a:endParaRPr lang="en-US" sz="2000" dirty="0"/>
          </a:p>
        </p:txBody>
      </p:sp>
      <p:sp>
        <p:nvSpPr>
          <p:cNvPr id="64" name="ivt:badge-shape-1"/>
          <p:cNvSpPr/>
          <p:nvPr/>
        </p:nvSpPr>
        <p:spPr>
          <a:xfrm>
            <a:off x="4901184" y="1152144"/>
            <a:ext cx="228600" cy="228600"/>
          </a:xfrm>
          <a:prstGeom prst="ellipse">
            <a:avLst/>
          </a:prstGeom>
          <a:solidFill>
            <a:srgbClr val="0A63D9"/>
          </a:solidFill>
          <a:ln w="6350">
            <a:solidFill>
              <a:srgbClr val="0A63D9"/>
            </a:solidFill>
            <a:prstDash val="solid"/>
            <a:headEnd type="none"/>
            <a:tailEnd type="none"/>
          </a:ln>
        </p:spPr>
      </p:sp>
      <p:sp>
        <p:nvSpPr>
          <p:cNvPr id="65" name="ivt:badge-shape-2"/>
          <p:cNvSpPr/>
          <p:nvPr/>
        </p:nvSpPr>
        <p:spPr>
          <a:xfrm>
            <a:off x="7232904" y="2240280"/>
            <a:ext cx="228600" cy="228600"/>
          </a:xfrm>
          <a:prstGeom prst="ellipse">
            <a:avLst/>
          </a:prstGeom>
          <a:solidFill>
            <a:srgbClr val="0A63D9"/>
          </a:solidFill>
          <a:ln w="6350">
            <a:solidFill>
              <a:srgbClr val="0A63D9"/>
            </a:solidFill>
            <a:prstDash val="solid"/>
            <a:headEnd type="none"/>
            <a:tailEnd type="none"/>
          </a:ln>
        </p:spPr>
      </p:sp>
      <p:sp>
        <p:nvSpPr>
          <p:cNvPr id="66" name="ivt:badge-shape-3"/>
          <p:cNvSpPr/>
          <p:nvPr/>
        </p:nvSpPr>
        <p:spPr>
          <a:xfrm>
            <a:off x="7232904" y="3813048"/>
            <a:ext cx="228600" cy="228600"/>
          </a:xfrm>
          <a:prstGeom prst="ellipse">
            <a:avLst/>
          </a:prstGeom>
          <a:solidFill>
            <a:srgbClr val="0A63D9"/>
          </a:solidFill>
          <a:ln w="6350">
            <a:solidFill>
              <a:srgbClr val="0A63D9"/>
            </a:solidFill>
            <a:prstDash val="solid"/>
            <a:headEnd type="none"/>
            <a:tailEnd type="none"/>
          </a:ln>
        </p:spPr>
      </p:sp>
      <p:sp>
        <p:nvSpPr>
          <p:cNvPr id="67" name="ivt:badge-shape-4"/>
          <p:cNvSpPr/>
          <p:nvPr/>
        </p:nvSpPr>
        <p:spPr>
          <a:xfrm>
            <a:off x="4901184" y="4809744"/>
            <a:ext cx="228600" cy="228600"/>
          </a:xfrm>
          <a:prstGeom prst="ellipse">
            <a:avLst/>
          </a:prstGeom>
          <a:solidFill>
            <a:srgbClr val="0A63D9"/>
          </a:solidFill>
          <a:ln w="6350">
            <a:solidFill>
              <a:srgbClr val="0A63D9"/>
            </a:solidFill>
            <a:prstDash val="solid"/>
            <a:headEnd type="none"/>
            <a:tailEnd type="none"/>
          </a:ln>
        </p:spPr>
      </p:sp>
      <p:sp>
        <p:nvSpPr>
          <p:cNvPr id="68" name="ivt:badge-shape-5"/>
          <p:cNvSpPr/>
          <p:nvPr/>
        </p:nvSpPr>
        <p:spPr>
          <a:xfrm>
            <a:off x="2871216" y="3813048"/>
            <a:ext cx="228600" cy="228600"/>
          </a:xfrm>
          <a:prstGeom prst="ellipse">
            <a:avLst/>
          </a:prstGeom>
          <a:solidFill>
            <a:srgbClr val="0A63D9"/>
          </a:solidFill>
          <a:ln w="6350">
            <a:solidFill>
              <a:srgbClr val="0A63D9"/>
            </a:solidFill>
            <a:prstDash val="solid"/>
            <a:headEnd type="none"/>
            <a:tailEnd type="none"/>
          </a:ln>
        </p:spPr>
      </p:sp>
      <p:sp>
        <p:nvSpPr>
          <p:cNvPr id="69" name="ivt:badge-shape-6"/>
          <p:cNvSpPr/>
          <p:nvPr/>
        </p:nvSpPr>
        <p:spPr>
          <a:xfrm>
            <a:off x="2871216" y="2240280"/>
            <a:ext cx="228600" cy="228600"/>
          </a:xfrm>
          <a:prstGeom prst="ellipse">
            <a:avLst/>
          </a:prstGeom>
          <a:solidFill>
            <a:srgbClr val="0A63D9"/>
          </a:solidFill>
          <a:ln w="6350">
            <a:solidFill>
              <a:srgbClr val="0A63D9"/>
            </a:solidFill>
            <a:prstDash val="solid"/>
            <a:headEnd type="none"/>
            <a:tailEnd type="none"/>
          </a:ln>
        </p:spPr>
      </p:sp>
      <p:sp>
        <p:nvSpPr>
          <p:cNvPr id="70" name="ivt:badge-text-1"/>
          <p:cNvSpPr/>
          <p:nvPr/>
        </p:nvSpPr>
        <p:spPr>
          <a:xfrm>
            <a:off x="4901184" y="1152144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1" name="ivt:badge-text-2"/>
          <p:cNvSpPr/>
          <p:nvPr/>
        </p:nvSpPr>
        <p:spPr>
          <a:xfrm>
            <a:off x="7232904" y="2240280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72" name="ivt:badge-text-3"/>
          <p:cNvSpPr/>
          <p:nvPr/>
        </p:nvSpPr>
        <p:spPr>
          <a:xfrm>
            <a:off x="7232904" y="3813048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73" name="ivt:badge-text-4"/>
          <p:cNvSpPr/>
          <p:nvPr/>
        </p:nvSpPr>
        <p:spPr>
          <a:xfrm>
            <a:off x="4901184" y="4809744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74" name="ivt:badge-text-5"/>
          <p:cNvSpPr/>
          <p:nvPr/>
        </p:nvSpPr>
        <p:spPr>
          <a:xfrm>
            <a:off x="2871216" y="3813048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75" name="ivt:badge-text-6"/>
          <p:cNvSpPr/>
          <p:nvPr/>
        </p:nvSpPr>
        <p:spPr>
          <a:xfrm>
            <a:off x="2871216" y="2240280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76" name="ivt:step-1-head"/>
          <p:cNvSpPr/>
          <p:nvPr/>
        </p:nvSpPr>
        <p:spPr>
          <a:xfrm>
            <a:off x="6099048" y="1325880"/>
            <a:ext cx="786384" cy="2651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816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</a:t>
            </a:r>
            <a:endParaRPr lang="en-US" sz="1700" dirty="0"/>
          </a:p>
        </p:txBody>
      </p:sp>
      <p:sp>
        <p:nvSpPr>
          <p:cNvPr id="77" name="ivt:step-1-body"/>
          <p:cNvSpPr/>
          <p:nvPr/>
        </p:nvSpPr>
        <p:spPr>
          <a:xfrm>
            <a:off x="6099048" y="1636776"/>
            <a:ext cx="78638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B29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定义成果</a:t>
            </a:r>
            <a:endParaRPr lang="en-US" sz="1400" dirty="0"/>
          </a:p>
        </p:txBody>
      </p:sp>
      <p:sp>
        <p:nvSpPr>
          <p:cNvPr id="78" name="ivt:step-2-head"/>
          <p:cNvSpPr/>
          <p:nvPr/>
        </p:nvSpPr>
        <p:spPr>
          <a:xfrm>
            <a:off x="8421624" y="2441448"/>
            <a:ext cx="804672" cy="2651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816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连接资源</a:t>
            </a:r>
            <a:endParaRPr lang="en-US" sz="1700" dirty="0"/>
          </a:p>
        </p:txBody>
      </p:sp>
      <p:sp>
        <p:nvSpPr>
          <p:cNvPr id="79" name="ivt:step-2-body"/>
          <p:cNvSpPr/>
          <p:nvPr/>
        </p:nvSpPr>
        <p:spPr>
          <a:xfrm>
            <a:off x="8421624" y="2761488"/>
            <a:ext cx="80467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B29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获取知识</a:t>
            </a:r>
            <a:endParaRPr lang="en-US" sz="1400" dirty="0"/>
          </a:p>
        </p:txBody>
      </p:sp>
      <p:sp>
        <p:nvSpPr>
          <p:cNvPr id="80" name="ivt:step-3-head"/>
          <p:cNvSpPr/>
          <p:nvPr/>
        </p:nvSpPr>
        <p:spPr>
          <a:xfrm>
            <a:off x="8421624" y="4014216"/>
            <a:ext cx="804672" cy="2651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816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智能练习</a:t>
            </a:r>
            <a:endParaRPr lang="en-US" sz="1700" dirty="0"/>
          </a:p>
        </p:txBody>
      </p:sp>
      <p:sp>
        <p:nvSpPr>
          <p:cNvPr id="81" name="ivt:step-3-body"/>
          <p:cNvSpPr/>
          <p:nvPr/>
        </p:nvSpPr>
        <p:spPr>
          <a:xfrm>
            <a:off x="8421624" y="4334256"/>
            <a:ext cx="80467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B29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即时支持</a:t>
            </a:r>
            <a:endParaRPr lang="en-US" sz="1400" dirty="0"/>
          </a:p>
        </p:txBody>
      </p:sp>
      <p:sp>
        <p:nvSpPr>
          <p:cNvPr id="82" name="ivt:step-4-head"/>
          <p:cNvSpPr/>
          <p:nvPr/>
        </p:nvSpPr>
        <p:spPr>
          <a:xfrm>
            <a:off x="6117336" y="4983480"/>
            <a:ext cx="841248" cy="2651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816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同伴协作</a:t>
            </a:r>
            <a:endParaRPr lang="en-US" sz="1700" dirty="0"/>
          </a:p>
        </p:txBody>
      </p:sp>
      <p:sp>
        <p:nvSpPr>
          <p:cNvPr id="83" name="ivt:step-4-body"/>
          <p:cNvSpPr/>
          <p:nvPr/>
        </p:nvSpPr>
        <p:spPr>
          <a:xfrm>
            <a:off x="6117336" y="5303520"/>
            <a:ext cx="84124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B29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共同建构</a:t>
            </a:r>
            <a:endParaRPr lang="en-US" sz="1400" dirty="0"/>
          </a:p>
        </p:txBody>
      </p:sp>
      <p:sp>
        <p:nvSpPr>
          <p:cNvPr id="84" name="ivt:step-5-head"/>
          <p:cNvSpPr/>
          <p:nvPr/>
        </p:nvSpPr>
        <p:spPr>
          <a:xfrm>
            <a:off x="3913632" y="3995928"/>
            <a:ext cx="804672" cy="2651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816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多元评估</a:t>
            </a:r>
            <a:endParaRPr lang="en-US" sz="1700" dirty="0"/>
          </a:p>
        </p:txBody>
      </p:sp>
      <p:sp>
        <p:nvSpPr>
          <p:cNvPr id="85" name="ivt:step-5-body"/>
          <p:cNvSpPr/>
          <p:nvPr/>
        </p:nvSpPr>
        <p:spPr>
          <a:xfrm>
            <a:off x="3913632" y="4315968"/>
            <a:ext cx="80467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B29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发现差距</a:t>
            </a:r>
            <a:endParaRPr lang="en-US" sz="1400" dirty="0"/>
          </a:p>
        </p:txBody>
      </p:sp>
      <p:sp>
        <p:nvSpPr>
          <p:cNvPr id="86" name="ivt:step-6-head"/>
          <p:cNvSpPr/>
          <p:nvPr/>
        </p:nvSpPr>
        <p:spPr>
          <a:xfrm>
            <a:off x="3913632" y="2441448"/>
            <a:ext cx="804672" cy="2651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816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迭代提升</a:t>
            </a:r>
            <a:endParaRPr lang="en-US" sz="1700" dirty="0"/>
          </a:p>
        </p:txBody>
      </p:sp>
      <p:sp>
        <p:nvSpPr>
          <p:cNvPr id="87" name="ivt:step-6-body"/>
          <p:cNvSpPr/>
          <p:nvPr/>
        </p:nvSpPr>
        <p:spPr>
          <a:xfrm>
            <a:off x="3913632" y="2761488"/>
            <a:ext cx="80467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0B29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持续成长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驱动的学习闭环</dc:title>
  <dc:subject>Deterministic editable PowerPoint build</dc:subject>
  <dc:creator>content-to-editable-ppt-skill</dc:creator>
  <cp:lastModifiedBy>content-to-editable-ppt-skill</cp:lastModifiedBy>
  <cp:revision>1</cp:revision>
  <dcterms:created xsi:type="dcterms:W3CDTF">1980-01-01T00:00:00Z</dcterms:created>
  <dcterms:modified xsi:type="dcterms:W3CDTF">1980-01-01T00:00:00Z</dcterms:modified>
</cp:coreProperties>
</file>