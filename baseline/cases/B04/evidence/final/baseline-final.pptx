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vt:bg-circle-top-right"/>
          <p:cNvSpPr/>
          <p:nvPr/>
        </p:nvSpPr>
        <p:spPr>
          <a:xfrm>
            <a:off x="9857232" y="0"/>
            <a:ext cx="2334463" cy="2048256"/>
          </a:xfrm>
          <a:prstGeom prst="ellipse">
            <a:avLst/>
          </a:prstGeom>
          <a:solidFill>
            <a:srgbClr val="E8F2FF"/>
          </a:solidFill>
          <a:ln w="6350">
            <a:solidFill>
              <a:srgbClr val="E8F2FF"/>
            </a:solidFill>
            <a:prstDash val="solid"/>
            <a:headEnd type="none"/>
            <a:tailEnd type="none"/>
          </a:ln>
        </p:spPr>
      </p:sp>
      <p:sp>
        <p:nvSpPr>
          <p:cNvPr id="3" name="ivt:bg-circle-bottom-left"/>
          <p:cNvSpPr/>
          <p:nvPr/>
        </p:nvSpPr>
        <p:spPr>
          <a:xfrm>
            <a:off x="0" y="5257800"/>
            <a:ext cx="3072384" cy="1600200"/>
          </a:xfrm>
          <a:prstGeom prst="ellipse">
            <a:avLst/>
          </a:prstGeom>
          <a:solidFill>
            <a:srgbClr val="EDF4FF"/>
          </a:solidFill>
          <a:ln w="6350">
            <a:solidFill>
              <a:srgbClr val="EDF4FF"/>
            </a:solidFill>
            <a:prstDash val="solid"/>
            <a:headEnd type="none"/>
            <a:tailEnd type="none"/>
          </a:ln>
        </p:spPr>
      </p:sp>
      <p:sp>
        <p:nvSpPr>
          <p:cNvPr id="4" name="ivt:flow-input-to-split"/>
          <p:cNvSpPr/>
          <p:nvPr/>
        </p:nvSpPr>
        <p:spPr>
          <a:xfrm>
            <a:off x="2441448" y="3136392"/>
            <a:ext cx="402336" cy="0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3E7DEC"/>
            </a:solidFill>
            <a:prstDash val="solid"/>
            <a:headEnd type="none"/>
            <a:tailEnd type="none"/>
          </a:ln>
        </p:spPr>
      </p:sp>
      <p:sp>
        <p:nvSpPr>
          <p:cNvPr id="5" name="ivt:flow-split-trunk"/>
          <p:cNvSpPr/>
          <p:nvPr/>
        </p:nvSpPr>
        <p:spPr>
          <a:xfrm>
            <a:off x="2843784" y="2221992"/>
            <a:ext cx="0" cy="2340864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3E7DEC"/>
            </a:solidFill>
            <a:prstDash val="solid"/>
            <a:headEnd type="none"/>
            <a:tailEnd type="none"/>
          </a:ln>
        </p:spPr>
      </p:sp>
      <p:sp>
        <p:nvSpPr>
          <p:cNvPr id="6" name="ivt:flow-split-to-design"/>
          <p:cNvSpPr/>
          <p:nvPr/>
        </p:nvSpPr>
        <p:spPr>
          <a:xfrm>
            <a:off x="2843784" y="2221992"/>
            <a:ext cx="374904" cy="0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3E7DEC"/>
            </a:solidFill>
            <a:prstDash val="solid"/>
            <a:headEnd type="none"/>
            <a:tailEnd type="triangle"/>
          </a:ln>
        </p:spPr>
      </p:sp>
      <p:sp>
        <p:nvSpPr>
          <p:cNvPr id="7" name="ivt:flow-split-to-risk"/>
          <p:cNvSpPr/>
          <p:nvPr/>
        </p:nvSpPr>
        <p:spPr>
          <a:xfrm>
            <a:off x="2843784" y="4562856"/>
            <a:ext cx="374904" cy="0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3E7DEC"/>
            </a:solidFill>
            <a:prstDash val="solid"/>
            <a:headEnd type="none"/>
            <a:tailEnd type="triangle"/>
          </a:ln>
        </p:spPr>
      </p:sp>
      <p:sp>
        <p:nvSpPr>
          <p:cNvPr id="8" name="ivt:flow-design-to-merge"/>
          <p:cNvSpPr/>
          <p:nvPr/>
        </p:nvSpPr>
        <p:spPr>
          <a:xfrm>
            <a:off x="5111496" y="2221992"/>
            <a:ext cx="448056" cy="0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3E7DEC"/>
            </a:solidFill>
            <a:prstDash val="solid"/>
            <a:headEnd type="none"/>
            <a:tailEnd type="none"/>
          </a:ln>
        </p:spPr>
      </p:sp>
      <p:sp>
        <p:nvSpPr>
          <p:cNvPr id="9" name="ivt:flow-risk-to-merge"/>
          <p:cNvSpPr/>
          <p:nvPr/>
        </p:nvSpPr>
        <p:spPr>
          <a:xfrm>
            <a:off x="5111496" y="4562856"/>
            <a:ext cx="448056" cy="0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3E7DEC"/>
            </a:solidFill>
            <a:prstDash val="solid"/>
            <a:headEnd type="none"/>
            <a:tailEnd type="none"/>
          </a:ln>
        </p:spPr>
      </p:sp>
      <p:sp>
        <p:nvSpPr>
          <p:cNvPr id="10" name="ivt:flow-merge-trunk"/>
          <p:cNvSpPr/>
          <p:nvPr/>
        </p:nvSpPr>
        <p:spPr>
          <a:xfrm>
            <a:off x="5559552" y="2221992"/>
            <a:ext cx="0" cy="2340864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3E7DEC"/>
            </a:solidFill>
            <a:prstDash val="solid"/>
            <a:headEnd type="none"/>
            <a:tailEnd type="none"/>
          </a:ln>
        </p:spPr>
      </p:sp>
      <p:sp>
        <p:nvSpPr>
          <p:cNvPr id="11" name="ivt:flow-merge-to-execution"/>
          <p:cNvSpPr/>
          <p:nvPr/>
        </p:nvSpPr>
        <p:spPr>
          <a:xfrm>
            <a:off x="5559552" y="3136392"/>
            <a:ext cx="420624" cy="0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3E7DEC"/>
            </a:solidFill>
            <a:prstDash val="solid"/>
            <a:headEnd type="none"/>
            <a:tailEnd type="triangle"/>
          </a:ln>
        </p:spPr>
      </p:sp>
      <p:sp>
        <p:nvSpPr>
          <p:cNvPr id="12" name="ivt:flow-execution-to-acceptance"/>
          <p:cNvSpPr/>
          <p:nvPr/>
        </p:nvSpPr>
        <p:spPr>
          <a:xfrm>
            <a:off x="7872984" y="3136392"/>
            <a:ext cx="1216152" cy="0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3E7DEC"/>
            </a:solidFill>
            <a:prstDash val="solid"/>
            <a:headEnd type="none"/>
            <a:tailEnd type="triangle"/>
          </a:ln>
        </p:spPr>
      </p:sp>
      <p:sp>
        <p:nvSpPr>
          <p:cNvPr id="13" name="ivt:feedback-down"/>
          <p:cNvSpPr/>
          <p:nvPr/>
        </p:nvSpPr>
        <p:spPr>
          <a:xfrm>
            <a:off x="10067544" y="3648456"/>
            <a:ext cx="0" cy="2075688"/>
          </a:xfrm>
          <a:prstGeom prst="line">
            <a:avLst/>
          </a:prstGeom>
          <a:solidFill>
            <a:srgbClr val="FFFFFF">
              <a:alpha val="0"/>
            </a:srgbClr>
          </a:solidFill>
          <a:ln w="44450">
            <a:solidFill>
              <a:srgbClr val="E8733A"/>
            </a:solidFill>
            <a:prstDash val="solid"/>
            <a:headEnd type="none"/>
            <a:tailEnd type="none"/>
          </a:ln>
        </p:spPr>
      </p:sp>
      <p:sp>
        <p:nvSpPr>
          <p:cNvPr id="14" name="ivt:feedback-bottom"/>
          <p:cNvSpPr/>
          <p:nvPr/>
        </p:nvSpPr>
        <p:spPr>
          <a:xfrm>
            <a:off x="1536192" y="5724144"/>
            <a:ext cx="8531352" cy="0"/>
          </a:xfrm>
          <a:prstGeom prst="line">
            <a:avLst/>
          </a:prstGeom>
          <a:solidFill>
            <a:srgbClr val="FFFFFF">
              <a:alpha val="0"/>
            </a:srgbClr>
          </a:solidFill>
          <a:ln w="44450">
            <a:solidFill>
              <a:srgbClr val="E8733A"/>
            </a:solidFill>
            <a:prstDash val="solid"/>
            <a:headEnd type="none"/>
            <a:tailEnd type="none"/>
          </a:ln>
        </p:spPr>
      </p:sp>
      <p:sp>
        <p:nvSpPr>
          <p:cNvPr id="15" name="ivt:feedback-up-to-input"/>
          <p:cNvSpPr/>
          <p:nvPr/>
        </p:nvSpPr>
        <p:spPr>
          <a:xfrm>
            <a:off x="1536192" y="3648456"/>
            <a:ext cx="0" cy="2075688"/>
          </a:xfrm>
          <a:prstGeom prst="line">
            <a:avLst/>
          </a:prstGeom>
          <a:solidFill>
            <a:srgbClr val="FFFFFF">
              <a:alpha val="0"/>
            </a:srgbClr>
          </a:solidFill>
          <a:ln w="44450">
            <a:solidFill>
              <a:srgbClr val="E8733A"/>
            </a:solidFill>
            <a:prstDash val="solid"/>
            <a:headEnd type="triangle"/>
            <a:tailEnd type="none"/>
          </a:ln>
        </p:spPr>
      </p:sp>
      <p:sp>
        <p:nvSpPr>
          <p:cNvPr id="16" name="ivt:node-input"/>
          <p:cNvSpPr/>
          <p:nvPr/>
        </p:nvSpPr>
        <p:spPr>
          <a:xfrm>
            <a:off x="658368" y="2642616"/>
            <a:ext cx="1783080" cy="1005840"/>
          </a:xfrm>
          <a:prstGeom prst="roundRect">
            <a:avLst/>
          </a:prstGeom>
          <a:solidFill>
            <a:srgbClr val="EAF2FF"/>
          </a:solidFill>
          <a:ln w="25400">
            <a:solidFill>
              <a:srgbClr val="88AFE7"/>
            </a:solidFill>
            <a:prstDash val="solid"/>
            <a:headEnd type="none"/>
            <a:tailEnd type="none"/>
          </a:ln>
        </p:spPr>
      </p:sp>
      <p:sp>
        <p:nvSpPr>
          <p:cNvPr id="17" name="ivt:node-design"/>
          <p:cNvSpPr/>
          <p:nvPr/>
        </p:nvSpPr>
        <p:spPr>
          <a:xfrm>
            <a:off x="3218688" y="1728216"/>
            <a:ext cx="1892808" cy="1005840"/>
          </a:xfrm>
          <a:prstGeom prst="roundRect">
            <a:avLst/>
          </a:prstGeom>
          <a:solidFill>
            <a:srgbClr val="EAF8F5"/>
          </a:solidFill>
          <a:ln w="25400">
            <a:solidFill>
              <a:srgbClr val="88AFE7"/>
            </a:solidFill>
            <a:prstDash val="solid"/>
            <a:headEnd type="none"/>
            <a:tailEnd type="none"/>
          </a:ln>
        </p:spPr>
      </p:sp>
      <p:sp>
        <p:nvSpPr>
          <p:cNvPr id="18" name="ivt:node-risk"/>
          <p:cNvSpPr/>
          <p:nvPr/>
        </p:nvSpPr>
        <p:spPr>
          <a:xfrm>
            <a:off x="3218688" y="4059936"/>
            <a:ext cx="1892808" cy="1005840"/>
          </a:xfrm>
          <a:prstGeom prst="roundRect">
            <a:avLst/>
          </a:prstGeom>
          <a:solidFill>
            <a:srgbClr val="FFF0D9"/>
          </a:solidFill>
          <a:ln w="25400">
            <a:solidFill>
              <a:srgbClr val="88AFE7"/>
            </a:solidFill>
            <a:prstDash val="solid"/>
            <a:headEnd type="none"/>
            <a:tailEnd type="none"/>
          </a:ln>
        </p:spPr>
      </p:sp>
      <p:sp>
        <p:nvSpPr>
          <p:cNvPr id="19" name="ivt:node-execution"/>
          <p:cNvSpPr/>
          <p:nvPr/>
        </p:nvSpPr>
        <p:spPr>
          <a:xfrm>
            <a:off x="5980176" y="2642616"/>
            <a:ext cx="1892808" cy="1005840"/>
          </a:xfrm>
          <a:prstGeom prst="roundRect">
            <a:avLst/>
          </a:prstGeom>
          <a:solidFill>
            <a:srgbClr val="F0F0FF"/>
          </a:solidFill>
          <a:ln w="25400">
            <a:solidFill>
              <a:srgbClr val="88AFE7"/>
            </a:solidFill>
            <a:prstDash val="solid"/>
            <a:headEnd type="none"/>
            <a:tailEnd type="none"/>
          </a:ln>
        </p:spPr>
      </p:sp>
      <p:sp>
        <p:nvSpPr>
          <p:cNvPr id="20" name="ivt:node-acceptance"/>
          <p:cNvSpPr/>
          <p:nvPr/>
        </p:nvSpPr>
        <p:spPr>
          <a:xfrm>
            <a:off x="9089136" y="2642616"/>
            <a:ext cx="1956816" cy="1005840"/>
          </a:xfrm>
          <a:prstGeom prst="roundRect">
            <a:avLst/>
          </a:prstGeom>
          <a:solidFill>
            <a:srgbClr val="E5F8F5"/>
          </a:solidFill>
          <a:ln w="25400">
            <a:solidFill>
              <a:srgbClr val="88AFE7"/>
            </a:solidFill>
            <a:prstDash val="solid"/>
            <a:headEnd type="none"/>
            <a:tailEnd type="none"/>
          </a:ln>
        </p:spPr>
      </p:sp>
      <p:sp>
        <p:nvSpPr>
          <p:cNvPr id="21" name="ivt:title"/>
          <p:cNvSpPr/>
          <p:nvPr/>
        </p:nvSpPr>
        <p:spPr>
          <a:xfrm>
            <a:off x="594360" y="502920"/>
            <a:ext cx="5212080" cy="4846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234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需求到交付的闭环流程</a:t>
            </a:r>
            <a:endParaRPr lang="en-US" sz="3200" dirty="0"/>
          </a:p>
        </p:txBody>
      </p:sp>
      <p:sp>
        <p:nvSpPr>
          <p:cNvPr id="22" name="ivt:subtitle"/>
          <p:cNvSpPr/>
          <p:nvPr/>
        </p:nvSpPr>
        <p:spPr>
          <a:xfrm>
            <a:off x="612648" y="1051560"/>
            <a:ext cx="5303520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435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分支评审、结果汇合与反馈回路必须保持连通</a:t>
            </a:r>
            <a:endParaRPr lang="en-US" sz="1500" dirty="0"/>
          </a:p>
        </p:txBody>
      </p:sp>
      <p:sp>
        <p:nvSpPr>
          <p:cNvPr id="23" name="ivt:label-input"/>
          <p:cNvSpPr/>
          <p:nvPr/>
        </p:nvSpPr>
        <p:spPr>
          <a:xfrm>
            <a:off x="832104" y="2953512"/>
            <a:ext cx="1435608" cy="3291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1234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需求输入</a:t>
            </a:r>
            <a:endParaRPr lang="en-US" sz="1700" dirty="0"/>
          </a:p>
        </p:txBody>
      </p:sp>
      <p:sp>
        <p:nvSpPr>
          <p:cNvPr id="24" name="ivt:label-design"/>
          <p:cNvSpPr/>
          <p:nvPr/>
        </p:nvSpPr>
        <p:spPr>
          <a:xfrm>
            <a:off x="3401568" y="2039112"/>
            <a:ext cx="1527048" cy="3291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1234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方案设计</a:t>
            </a:r>
            <a:endParaRPr lang="en-US" sz="1700" dirty="0"/>
          </a:p>
        </p:txBody>
      </p:sp>
      <p:sp>
        <p:nvSpPr>
          <p:cNvPr id="25" name="ivt:label-risk"/>
          <p:cNvSpPr/>
          <p:nvPr/>
        </p:nvSpPr>
        <p:spPr>
          <a:xfrm>
            <a:off x="3401568" y="4370832"/>
            <a:ext cx="1527048" cy="3291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1234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风险评审</a:t>
            </a:r>
            <a:endParaRPr lang="en-US" sz="1700" dirty="0"/>
          </a:p>
        </p:txBody>
      </p:sp>
      <p:sp>
        <p:nvSpPr>
          <p:cNvPr id="26" name="ivt:label-execution"/>
          <p:cNvSpPr/>
          <p:nvPr/>
        </p:nvSpPr>
        <p:spPr>
          <a:xfrm>
            <a:off x="6163056" y="2953512"/>
            <a:ext cx="1527048" cy="3291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1234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统一执行</a:t>
            </a:r>
            <a:endParaRPr lang="en-US" sz="1700" dirty="0"/>
          </a:p>
        </p:txBody>
      </p:sp>
      <p:sp>
        <p:nvSpPr>
          <p:cNvPr id="27" name="ivt:label-acceptance"/>
          <p:cNvSpPr/>
          <p:nvPr/>
        </p:nvSpPr>
        <p:spPr>
          <a:xfrm>
            <a:off x="9272016" y="2953512"/>
            <a:ext cx="1591056" cy="3291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1234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结果验收</a:t>
            </a:r>
            <a:endParaRPr lang="en-US" sz="1700" dirty="0"/>
          </a:p>
        </p:txBody>
      </p:sp>
      <p:sp>
        <p:nvSpPr>
          <p:cNvPr id="28" name="ivt:label-parallel"/>
          <p:cNvSpPr/>
          <p:nvPr/>
        </p:nvSpPr>
        <p:spPr>
          <a:xfrm>
            <a:off x="3822192" y="2871216"/>
            <a:ext cx="566928" cy="23774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405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</a:t>
            </a:r>
            <a:endParaRPr lang="en-US" sz="1200" dirty="0"/>
          </a:p>
        </p:txBody>
      </p:sp>
      <p:sp>
        <p:nvSpPr>
          <p:cNvPr id="29" name="ivt:label-merge"/>
          <p:cNvSpPr/>
          <p:nvPr/>
        </p:nvSpPr>
        <p:spPr>
          <a:xfrm>
            <a:off x="5230368" y="3273552"/>
            <a:ext cx="566928" cy="23774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405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汇合</a:t>
            </a:r>
            <a:endParaRPr lang="en-US" sz="1200" dirty="0"/>
          </a:p>
        </p:txBody>
      </p:sp>
      <p:sp>
        <p:nvSpPr>
          <p:cNvPr id="30" name="ivt:label-feedback"/>
          <p:cNvSpPr/>
          <p:nvPr/>
        </p:nvSpPr>
        <p:spPr>
          <a:xfrm>
            <a:off x="4846320" y="5961888"/>
            <a:ext cx="2057400" cy="2926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C64D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验收反馈回到需求输入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需求到交付的闭环流程</dc:title>
  <dc:subject>Deterministic editable PowerPoint build</dc:subject>
  <dc:creator>content-to-editable-ppt-skill</dc:creator>
  <cp:lastModifiedBy>content-to-editable-ppt-skill</cp:lastModifiedBy>
  <cp:revision>1</cp:revision>
  <dcterms:created xsi:type="dcterms:W3CDTF">1980-01-01T00:00:00Z</dcterms:created>
  <dcterms:modified xsi:type="dcterms:W3CDTF">1980-01-01T00:00:00Z</dcterms:modified>
</cp:coreProperties>
</file>