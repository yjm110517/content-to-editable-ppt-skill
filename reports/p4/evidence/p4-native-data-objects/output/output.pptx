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后测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实验组</c:v>
                  </c:pt>
                  <c:pt idx="1">
                    <c:v>对照组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79.5</c:v>
                </c:pt>
                <c:pt idx="1">
                  <c:v>73.78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组别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得分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divider-01"/>
          <p:cNvSpPr/>
          <p:nvPr/>
        </p:nvSpPr>
        <p:spPr>
          <a:xfrm>
            <a:off x="731502" y="1062990"/>
            <a:ext cx="10728692" cy="20574"/>
          </a:xfrm>
          <a:prstGeom prst="rect">
            <a:avLst/>
          </a:prstGeom>
          <a:solidFill>
            <a:srgbClr val="D9E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ivt:chart-panel-01"/>
          <p:cNvSpPr/>
          <p:nvPr/>
        </p:nvSpPr>
        <p:spPr>
          <a:xfrm>
            <a:off x="914377" y="1680210"/>
            <a:ext cx="4876678" cy="380619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4E3F5"/>
            </a:solidFill>
            <a:prstDash val="solid"/>
            <a:headEnd type="none"/>
            <a:tailEnd type="none"/>
          </a:ln>
        </p:spPr>
      </p:sp>
      <p:sp>
        <p:nvSpPr>
          <p:cNvPr id="4" name="ivt:title-object"/>
          <p:cNvSpPr/>
          <p:nvPr/>
        </p:nvSpPr>
        <p:spPr>
          <a:xfrm>
            <a:off x="731502" y="445770"/>
            <a:ext cx="3657509" cy="4457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72B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实验结果概览</a:t>
            </a:r>
            <a:endParaRPr lang="en-US" sz="2800" dirty="0"/>
          </a:p>
        </p:txBody>
      </p:sp>
      <p:graphicFrame>
        <p:nvGraphicFramePr>
          <p:cNvPr id="5" name="ivt:chart-01" descr=""/>
          <p:cNvGraphicFramePr/>
          <p:nvPr/>
        </p:nvGraphicFramePr>
        <p:xfrm>
          <a:off x="1402045" y="2571750"/>
          <a:ext cx="3962301" cy="27774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ivt:table-banner-01"/>
          <p:cNvSpPr/>
          <p:nvPr/>
        </p:nvSpPr>
        <p:spPr>
          <a:xfrm>
            <a:off x="6400640" y="2057400"/>
            <a:ext cx="4876678" cy="754380"/>
          </a:xfrm>
          <a:prstGeom prst="roundRect">
            <a:avLst/>
          </a:prstGeom>
          <a:solidFill>
            <a:srgbClr val="D9E7F7"/>
          </a:solidFill>
          <a:ln w="12700">
            <a:solidFill>
              <a:srgbClr val="5B9BD5"/>
            </a:solidFill>
            <a:prstDash val="solid"/>
            <a:headEnd type="none"/>
            <a:tailEnd type="none"/>
          </a:ln>
        </p:spPr>
      </p:sp>
      <p:graphicFrame>
        <p:nvGraphicFramePr>
          <p:cNvPr id="2" name="ivt:table-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640" y="2777490"/>
          <a:ext cx="4876678" cy="2194560"/>
        </p:xfrm>
        <a:graphic>
          <a:graphicData uri="http://schemas.openxmlformats.org/drawingml/2006/table">
            <a:tbl>
              <a:tblPr/>
              <a:tblGrid>
                <a:gridCol w="1950671"/>
                <a:gridCol w="1463003"/>
                <a:gridCol w="1463003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SD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79.50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12.52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73.78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17.93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实验结果概览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